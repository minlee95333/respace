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6000" y="216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C1A17"/>
                </a:solidFill>
                <a:latin typeface="맑은 고딕"/>
              </a:rPr>
              <a:t>BIGB 제안서 그림 모음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6000" y="3024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7726A"/>
                </a:solidFill>
                <a:latin typeface="맑은 고딕"/>
              </a:rPr>
              <a:t>AI CCTV 배치 적정성 평가 모델   ·   슬라이드 하나에 그림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6000" y="3744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· 캡션은 제안서에 그대로 쓸 수 있게 수치를 넣어 적었다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· 원본 PNG 는 outputs/figures/ 에 300dpi 로 있다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· 수치가 바뀌면 make_figures.py → make_figures_extra.py → 이 파일 순으로 다시 돌린다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· 생성 2026-08-23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33B29"/>
                </a:solidFill>
                <a:latin typeface="맑은 고딕"/>
              </a:rPr>
              <a:t>그림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A17"/>
                </a:solidFill>
                <a:latin typeface="맑은 고딕"/>
              </a:rPr>
              <a:t>같은 사람, 같은 카메라. 조건만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77726A"/>
                </a:solidFill>
                <a:latin typeface="맑은 고딕"/>
              </a:rPr>
              <a:t>§2 현황분석·문제점</a:t>
            </a:r>
          </a:p>
        </p:txBody>
      </p:sp>
      <p:pic>
        <p:nvPicPr>
          <p:cNvPr id="5" name="Picture 4" descr="fig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55" y="1260000"/>
            <a:ext cx="10633090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1A17"/>
                </a:solidFill>
                <a:latin typeface="맑은 고딕"/>
              </a:rPr>
              <a:t>그림 1. 설치 조건에 따른 화면 속 작업자. 오른쪽은 현장에서 흔한 조건이며 이 조건의 미착용 검출률은 사실상 0이다.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726A"/>
                </a:solidFill>
                <a:latin typeface="맑은 고딕"/>
              </a:rPr>
              <a:t>말로 설명하면 안 와닿는 것을 3초에 끝낸다. 심사위원 대부분은 건설 쪽이지 비전 쪽이 아니다. 제안서에서 가장 앞에 두는 그림.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33B29"/>
                </a:solidFill>
                <a:latin typeface="맑은 고딕"/>
              </a:rPr>
              <a:t>★ 필수 · 이 그림 하나가 문제 제기를 통째로 대신한다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33B29"/>
                </a:solidFill>
                <a:latin typeface="맑은 고딕"/>
              </a:rPr>
              <a:t>그림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A17"/>
                </a:solidFill>
                <a:latin typeface="맑은 고딕"/>
              </a:rPr>
              <a:t>설치 조건이 검출률을 어떻게 깎는가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77726A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" y="1838368"/>
            <a:ext cx="11016000" cy="2947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1A17"/>
                </a:solidFill>
                <a:latin typeface="맑은 고딕"/>
              </a:rPr>
              <a:t>그림 2. 실측 검출확률 곡선. 288조건 × 500장 추론, 주 지표 R² = 0.8977.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726A"/>
                </a:solidFill>
                <a:latin typeface="맑은 고딕"/>
              </a:rPr>
              <a:t>세 축을 각각 곡선으로 만들고 곱한다. θ는 45도까지 버티다 61도 부근에서 절벽처럼 무너진다.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33B29"/>
                </a:solidFill>
                <a:latin typeface="맑은 고딕"/>
              </a:rPr>
              <a:t>★ 필수 · 핵심 아이디어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33B29"/>
                </a:solidFill>
                <a:latin typeface="맑은 고딕"/>
              </a:rPr>
              <a:t>그림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A17"/>
                </a:solidFill>
                <a:latin typeface="맑은 고딕"/>
              </a:rPr>
              <a:t>같은 8대인데 자를 바꾸면 배치가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77726A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th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" y="2176579"/>
            <a:ext cx="11016000" cy="22708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1A17"/>
                </a:solidFill>
                <a:latin typeface="맑은 고딕"/>
              </a:rPr>
              <a:t>그림 3. 동일 예산 8대에서 미달 복셀 8,202 → 2,706개 (67% 감소).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726A"/>
                </a:solidFill>
                <a:latin typeface="맑은 고딕"/>
              </a:rPr>
              <a:t>세 배치를 모두 실측 곡선의 자로 재측정했다. 평균 검출률 차이는 +0.0750로 작아 보이지만 못 보는 자리가 3분의 1로 준다.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33B29"/>
                </a:solidFill>
                <a:latin typeface="맑은 고딕"/>
              </a:rPr>
              <a:t>★ 필수 · 핵심 실증. 평균이 아니라 꼬리를 보여주는 것이 요점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33B29"/>
                </a:solidFill>
                <a:latin typeface="맑은 고딕"/>
              </a:rPr>
              <a:t>그림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A17"/>
                </a:solidFill>
                <a:latin typeface="맑은 고딕"/>
              </a:rPr>
              <a:t>입력에서 처방까지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77726A"/>
                </a:solidFill>
                <a:latin typeface="맑은 고딕"/>
              </a:rPr>
              <a:t>§3 개선방안 / §5 적용성</a:t>
            </a:r>
          </a:p>
        </p:txBody>
      </p:sp>
      <p:pic>
        <p:nvPicPr>
          <p:cNvPr id="5" name="Picture 4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" y="1620947"/>
            <a:ext cx="11016000" cy="3382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1A17"/>
                </a:solidFill>
                <a:latin typeface="맑은 고딕"/>
              </a:rPr>
              <a:t>그림 4. 처리 흐름. 입력은 네 개의 계약 파일이며 실제 도면·계획서를 그 형식으로 넣으면 그대로 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726A"/>
                </a:solidFill>
                <a:latin typeface="맑은 고딕"/>
              </a:rPr>
              <a:t>"이게 실제로 돌아가는 물건인가"에 답하는 그림. 입력이 현장에서 이미 쓰는 서류라는 점이 적용성 근거가 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33B29"/>
                </a:solidFill>
                <a:latin typeface="맑은 고딕"/>
              </a:rPr>
              <a:t>★ 필수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33B29"/>
                </a:solidFill>
                <a:latin typeface="맑은 고딕"/>
              </a:rPr>
              <a:t>그림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A17"/>
                </a:solidFill>
                <a:latin typeface="맑은 고딕"/>
              </a:rPr>
              <a:t>100점을 어디서 잃었나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77726A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" y="1427684"/>
            <a:ext cx="11016000" cy="37686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1A17"/>
                </a:solidFill>
                <a:latin typeface="맑은 고딕"/>
              </a:rPr>
              <a:t>그림 5. 예시 계획서 채점. 총점 75.5/100, 등급 C. 치명 구역 4곳 미달로 등급 상한이 걸렸다.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726A"/>
                </a:solidFill>
                <a:latin typeface="맑은 고딕"/>
              </a:rPr>
              <a:t>단일 커버리지 %가 지우는 정보를 되살리는 그림. 개구부 주변이 배점 19.2점 중 7.4점만 얻은 것이 한눈에 보인다.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33B29"/>
                </a:solidFill>
                <a:latin typeface="맑은 고딕"/>
              </a:rPr>
              <a:t>★ 필수 · 빗금(배점)과 채움(획득)이라 흑백 출력에서도 읽힌다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33B29"/>
                </a:solidFill>
                <a:latin typeface="맑은 고딕"/>
              </a:rPr>
              <a:t>그림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A17"/>
                </a:solidFill>
                <a:latin typeface="맑은 고딕"/>
              </a:rPr>
              <a:t>옮기면 되는가, 더 달아야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77726A"/>
                </a:solidFill>
                <a:latin typeface="맑은 고딕"/>
              </a:rPr>
              <a:t>§3 개선방안 / §6 파급효과</a:t>
            </a:r>
          </a:p>
        </p:txBody>
      </p:sp>
      <p:pic>
        <p:nvPicPr>
          <p:cNvPr id="5" name="Picture 4" descr="fig_prescri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00" y="1260000"/>
            <a:ext cx="8664000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1A17"/>
                </a:solidFill>
                <a:latin typeface="맑은 고딕"/>
              </a:rPr>
              <a:t>그림 6. 처방. 같은 8대 재배치로 95.6점까지 오르나 개구부가 남고, 9대를 증설하면 100.0점에 도달한다.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726A"/>
                </a:solidFill>
                <a:latin typeface="맑은 고딕"/>
              </a:rPr>
              <a:t>대수를 늘리기 전에 재배치를 먼저 시도한다는 것이 실무에서 받아들여지는 이유다. 예산을 쓰지 않고 되는 일을 증설로 답하면 발주처가 쓰지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33B29"/>
                </a:solidFill>
                <a:latin typeface="맑은 고딕"/>
              </a:rPr>
              <a:t>★ 필수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33B29"/>
                </a:solidFill>
                <a:latin typeface="맑은 고딕"/>
              </a:rPr>
              <a:t>그림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A17"/>
                </a:solidFill>
                <a:latin typeface="맑은 고딕"/>
              </a:rPr>
              <a:t>3D 검출확률 히트맵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77726A"/>
                </a:solidFill>
                <a:latin typeface="맑은 고딕"/>
              </a:rPr>
              <a:t>§5 적용성</a:t>
            </a:r>
          </a:p>
        </p:txBody>
      </p:sp>
      <p:pic>
        <p:nvPicPr>
          <p:cNvPr id="5" name="Picture 4" descr="m-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423" y="1260000"/>
            <a:ext cx="7742353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1A17"/>
                </a:solidFill>
                <a:latin typeface="맑은 고딕"/>
              </a:rPr>
              <a:t>그림 7. 심사자 화면. 복셀별 검출확률을 색으로, 카메라 화각을 부채꼴로 표시한다.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726A"/>
                </a:solidFill>
                <a:latin typeface="맑은 고딕"/>
              </a:rPr>
              <a:t>PT 승부처. 지면에서는 한 장만 쓰고 2D/2.5D 전환은 발표에서 보인다.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33B29"/>
                </a:solidFill>
                <a:latin typeface="맑은 고딕"/>
              </a:rPr>
              <a:t>선택 · 스크린샷이라 해상도 확인 필요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33B29"/>
                </a:solidFill>
                <a:latin typeface="맑은 고딕"/>
              </a:rPr>
              <a:t>그림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A17"/>
                </a:solidFill>
                <a:latin typeface="맑은 고딕"/>
              </a:rPr>
              <a:t>스마트 안전보고서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77726A"/>
                </a:solidFill>
                <a:latin typeface="맑은 고딕"/>
              </a:rPr>
              <a:t>§5 적용성 / §6 파급효과</a:t>
            </a:r>
          </a:p>
        </p:txBody>
      </p:sp>
      <p:pic>
        <p:nvPicPr>
          <p:cNvPr id="5" name="Picture 4" descr="safety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384" y="1260000"/>
            <a:ext cx="1178431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1A17"/>
                </a:solidFill>
                <a:latin typeface="맑은 고딕"/>
              </a:rPr>
              <a:t>그림 8. 자동 생성되는 A4 보고서. 시행규칙 별표 7 의 CCTV 설치·운용계획 칸을 채운다.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726A"/>
                </a:solidFill>
                <a:latin typeface="맑은 고딕"/>
              </a:rPr>
              <a:t>"이대로 제출된다"를 보이는 그림. 법정 서류에 자리가 있다는 §1 논거와 짝을 이룬다.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33B29"/>
                </a:solidFill>
                <a:latin typeface="맑은 고딕"/>
              </a:rPr>
              <a:t>선택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33B29"/>
                </a:solidFill>
                <a:latin typeface="맑은 고딕"/>
              </a:rPr>
              <a:t>그림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A17"/>
                </a:solidFill>
                <a:latin typeface="맑은 고딕"/>
              </a:rPr>
              <a:t>시간대별 위험구역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77726A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time-pha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265" y="1260000"/>
            <a:ext cx="2582669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1A17"/>
                </a:solidFill>
                <a:latin typeface="맑은 고딕"/>
              </a:rPr>
              <a:t>그림 9. 하루 다섯 시간대 진단. 최악은 W3 시간대이며 종합은 평균이 아니라 최악값으로 대표한다.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726A"/>
                </a:solidFill>
                <a:latin typeface="맑은 고딕"/>
              </a:rPr>
              <a:t>고정 배치가 시간에 따라 달라지는 위험을 따라가는지 보인다. 카메라를 옮기는 4D 최적화와는 축이 다르다.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33B29"/>
                </a:solidFill>
                <a:latin typeface="맑은 고딕"/>
              </a:rPr>
              <a:t>선택 · 자리가 모자라면 표로 대체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503999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C1A17"/>
                </a:solidFill>
                <a:latin typeface="맑은 고딕"/>
              </a:rPr>
              <a:t>넣지 말 것 · 제작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54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넣지 말 것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· DORI 등급 스윕, 민감도 스윕 — 표가 낫다. 그림은 자리만 먹는다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   (민감도는 ΔWDR +0.0249 ~ +0.0356 한 줄이면 끝난다)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· 코드 스크린샷 — 값어치가 없다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· 2D/2.5D/3D 세 장 나란히 — 지면에서는 중복. 하나만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· 곡선 파라미터 표를 그림으로 — 본문 표로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6000" y="1296000"/>
            <a:ext cx="54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제작 규칙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· 300dpi PNG, 가로 최소 2,000px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· 색만으로 구분하지 않는다. 심사위원이 흑백 출력할 수 있다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   → 빗금·선 모양·마커를 같이 쓴다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· 캡션에 수치를 넣는다. 본문을 안 읽고 그림만 훑을 때 남는 한 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· 그림 번호는 절 번호와 맞춘다 (그림 3-1, 3-2)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26A"/>
                </a:solidFill>
                <a:latin typeface="맑은 고딕"/>
              </a:rPr>
              <a:t>· 15매에 그림 9개면 실질 4~5쪽. 본문 분량을 먼저 잡고 넣는다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